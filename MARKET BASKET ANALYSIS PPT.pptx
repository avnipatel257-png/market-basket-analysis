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MARKET BASKET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300" b="1" dirty="0"/>
              <a:t>AVNITA MANU PATEL</a:t>
            </a:r>
          </a:p>
          <a:p>
            <a:pPr algn="l"/>
            <a:r>
              <a:rPr lang="en-IN" sz="1900" b="1" dirty="0">
                <a:effectLst/>
              </a:rPr>
              <a:t>PERSEVEX EDUCATION CONSULTANCY LLP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6A09-36EA-D7BB-D362-7988716F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BCF0A-C0D5-1AA1-32B1-5A2F081F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Basket Analysis is a data mining technique used to identify relationships between products that are frequently purchased together.</a:t>
            </a:r>
          </a:p>
          <a:p>
            <a:r>
              <a:rPr lang="en-US" dirty="0"/>
              <a:t>It helps businesses understand customer buying behavior and improve sales through product recommendations and cross-selling strategies.</a:t>
            </a:r>
          </a:p>
          <a:p>
            <a:r>
              <a:rPr lang="en-US" dirty="0"/>
              <a:t>In this project, association rules are generated using the </a:t>
            </a:r>
            <a:r>
              <a:rPr lang="en-US" dirty="0" err="1"/>
              <a:t>Apriori</a:t>
            </a:r>
            <a:r>
              <a:rPr lang="en-US" dirty="0"/>
              <a:t> algorithm, and the results are visualized through an interactive dashboard in Microsoft Power BI for better insights and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3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A12F-8D8B-B2E2-0ED4-D8116373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USES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43B6-FE1F-5E68-DA7B-255B728AF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in </a:t>
            </a:r>
            <a:r>
              <a:rPr lang="en-US" b="1" dirty="0"/>
              <a:t>product recommendation</a:t>
            </a:r>
            <a:r>
              <a:rPr lang="en-US" dirty="0"/>
              <a:t> (suggest related items to customers)</a:t>
            </a:r>
          </a:p>
          <a:p>
            <a:r>
              <a:rPr lang="en-US" dirty="0"/>
              <a:t>Supports </a:t>
            </a:r>
            <a:r>
              <a:rPr lang="en-US" b="1" dirty="0"/>
              <a:t>cross-selling and up-selling strategies</a:t>
            </a:r>
          </a:p>
          <a:p>
            <a:r>
              <a:rPr lang="en-IN" dirty="0"/>
              <a:t>Improves </a:t>
            </a:r>
            <a:r>
              <a:rPr lang="en-IN" b="1" dirty="0"/>
              <a:t>store layout optimization</a:t>
            </a:r>
          </a:p>
          <a:p>
            <a:r>
              <a:rPr lang="en-US" dirty="0"/>
              <a:t>Enables </a:t>
            </a:r>
            <a:r>
              <a:rPr lang="en-US" b="1" dirty="0"/>
              <a:t>targeted marketing and personalized offers</a:t>
            </a:r>
          </a:p>
          <a:p>
            <a:r>
              <a:rPr lang="en-IN" dirty="0"/>
              <a:t>Assists in </a:t>
            </a:r>
            <a:r>
              <a:rPr lang="en-IN" b="1" dirty="0"/>
              <a:t>inventory management</a:t>
            </a:r>
          </a:p>
          <a:p>
            <a:r>
              <a:rPr lang="en-US" dirty="0"/>
              <a:t>Supports </a:t>
            </a:r>
            <a:r>
              <a:rPr lang="en-US" b="1" dirty="0"/>
              <a:t>data-driven decision-making</a:t>
            </a:r>
            <a:r>
              <a:rPr lang="en-US" dirty="0"/>
              <a:t> using Microsoft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48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64A5-5CD4-BE98-FC69-F4AD1F48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IMPORTANCE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2BCE-2473-4290-9EFD-9F2E0FA0A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understand </a:t>
            </a:r>
            <a:r>
              <a:rPr lang="en-US" b="1" dirty="0"/>
              <a:t>customer buying behavior</a:t>
            </a:r>
          </a:p>
          <a:p>
            <a:r>
              <a:rPr lang="en-US" dirty="0"/>
              <a:t>Identifies </a:t>
            </a:r>
            <a:r>
              <a:rPr lang="en-US" b="1" dirty="0"/>
              <a:t>hidden patterns and product relationships</a:t>
            </a:r>
          </a:p>
          <a:p>
            <a:r>
              <a:rPr lang="en-US" dirty="0"/>
              <a:t>Improves </a:t>
            </a:r>
            <a:r>
              <a:rPr lang="en-US" b="1" dirty="0"/>
              <a:t>sales through cross-selling and recommendations</a:t>
            </a:r>
          </a:p>
          <a:p>
            <a:r>
              <a:rPr lang="en-US" dirty="0"/>
              <a:t>Enhances </a:t>
            </a:r>
            <a:r>
              <a:rPr lang="en-US" b="1" dirty="0"/>
              <a:t>customer experience</a:t>
            </a:r>
            <a:r>
              <a:rPr lang="en-US" dirty="0"/>
              <a:t> with relevant suggestions</a:t>
            </a:r>
          </a:p>
          <a:p>
            <a:r>
              <a:rPr lang="en-US" dirty="0"/>
              <a:t>Supports </a:t>
            </a:r>
            <a:r>
              <a:rPr lang="en-US" b="1" dirty="0"/>
              <a:t>better business decisions</a:t>
            </a:r>
            <a:r>
              <a:rPr lang="en-US" dirty="0"/>
              <a:t> using data insights</a:t>
            </a:r>
          </a:p>
          <a:p>
            <a:r>
              <a:rPr lang="en-US" dirty="0"/>
              <a:t>Enables effective visualization and analysis using Microsoft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63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B6FFA9-F62E-A36A-8280-D7A7BAE9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3" y="191989"/>
            <a:ext cx="11159612" cy="64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7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3E905-11F0-7190-BEB7-BED3D49E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99252"/>
            <a:ext cx="11720052" cy="665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9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5EAF3-531D-8CEC-9CE9-246446FD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31632"/>
            <a:ext cx="11552904" cy="659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2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69464-06EB-E09D-6DC7-3578DFCB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139196"/>
            <a:ext cx="11828207" cy="657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68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D2221-0B27-C614-ADB2-C29691CC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518240"/>
            <a:ext cx="11729884" cy="582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9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80A92-FAE1-8646-1940-785B7A7C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496991"/>
            <a:ext cx="11661058" cy="586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0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74940-684D-5733-3B66-24DA9B98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2" y="505112"/>
            <a:ext cx="11493911" cy="58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8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59647-BCE8-6941-8EAC-EED48F363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496624"/>
            <a:ext cx="11670891" cy="586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80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6CACE8-8239-3F78-95C1-4EEFF9D65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0" y="334297"/>
            <a:ext cx="11661059" cy="623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9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B9E86-7A2D-8985-57CD-FCE7AF201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468549"/>
            <a:ext cx="11729885" cy="592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6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FF7FE-5968-9123-C36F-79157D7FD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407611"/>
            <a:ext cx="11690555" cy="604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30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1B119-6FFD-7DEA-380C-7103F0AF9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2" y="782890"/>
            <a:ext cx="11484079" cy="529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59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46E5B-B494-9A86-ACC3-DF11DA9B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393290"/>
            <a:ext cx="11533239" cy="61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1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D4CF6-BC18-594D-2301-DB7543243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216310"/>
            <a:ext cx="11543071" cy="66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17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A4C4-3CBC-05FC-0245-61CD9383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LIMITATION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BB64-28F4-BDA6-874E-DA988840A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depend on </a:t>
            </a:r>
            <a:r>
              <a:rPr lang="en-US" b="1" dirty="0"/>
              <a:t>data quality and completeness</a:t>
            </a:r>
          </a:p>
          <a:p>
            <a:r>
              <a:rPr lang="en-US" dirty="0"/>
              <a:t>Does not consider </a:t>
            </a:r>
            <a:r>
              <a:rPr lang="en-US" b="1" dirty="0"/>
              <a:t>time-based or seasonal patterns</a:t>
            </a:r>
          </a:p>
          <a:p>
            <a:r>
              <a:rPr lang="en-US" b="1" dirty="0"/>
              <a:t>Computational complexity</a:t>
            </a:r>
            <a:r>
              <a:rPr lang="en-US" dirty="0"/>
              <a:t> increases with large datasets</a:t>
            </a:r>
          </a:p>
          <a:p>
            <a:r>
              <a:rPr lang="en-US" dirty="0"/>
              <a:t>Ignores </a:t>
            </a:r>
            <a:r>
              <a:rPr lang="en-US" b="1" dirty="0"/>
              <a:t>external factors</a:t>
            </a:r>
            <a:r>
              <a:rPr lang="en-US" dirty="0"/>
              <a:t> (price, offers, customer preferences)</a:t>
            </a:r>
          </a:p>
          <a:p>
            <a:r>
              <a:rPr lang="en-US" dirty="0"/>
              <a:t>May generate </a:t>
            </a:r>
            <a:r>
              <a:rPr lang="en-US" b="1" dirty="0"/>
              <a:t>irrelevant or weak association rules</a:t>
            </a:r>
          </a:p>
          <a:p>
            <a:r>
              <a:rPr lang="en-US" dirty="0"/>
              <a:t>Based on </a:t>
            </a:r>
            <a:r>
              <a:rPr lang="en-US" b="1" dirty="0"/>
              <a:t>historical data</a:t>
            </a:r>
            <a:r>
              <a:rPr lang="en-US" dirty="0"/>
              <a:t>, not real-time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589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B6CD-C58E-4B71-81D5-A5F09BA3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65340-BDD5-1397-3846-6EB13DB3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Basket Analysis helps identify </a:t>
            </a:r>
            <a:r>
              <a:rPr lang="en-US" b="1" dirty="0"/>
              <a:t>product relationships and buying patterns</a:t>
            </a:r>
          </a:p>
          <a:p>
            <a:r>
              <a:rPr lang="en-US" dirty="0" err="1"/>
              <a:t>Apriori</a:t>
            </a:r>
            <a:r>
              <a:rPr lang="en-US" dirty="0"/>
              <a:t> algorithm is effective in generating </a:t>
            </a:r>
            <a:r>
              <a:rPr lang="en-US" b="1" dirty="0"/>
              <a:t>association rules</a:t>
            </a:r>
          </a:p>
          <a:p>
            <a:r>
              <a:rPr lang="en-US" dirty="0"/>
              <a:t>Support, Confidence, and Lift help measure </a:t>
            </a:r>
            <a:r>
              <a:rPr lang="en-US" b="1" dirty="0"/>
              <a:t>strength of relationships</a:t>
            </a:r>
          </a:p>
          <a:p>
            <a:r>
              <a:rPr lang="en-US" dirty="0"/>
              <a:t>Interactive dashboard built using Microsoft Power BI improves data understanding</a:t>
            </a:r>
          </a:p>
          <a:p>
            <a:r>
              <a:rPr lang="en-US" dirty="0"/>
              <a:t>Useful for </a:t>
            </a:r>
            <a:r>
              <a:rPr lang="en-US" b="1" dirty="0"/>
              <a:t>product recommendation, cross-selling, and decision-making</a:t>
            </a:r>
          </a:p>
          <a:p>
            <a:r>
              <a:rPr lang="en-US" dirty="0"/>
              <a:t>Can be applied in </a:t>
            </a:r>
            <a:r>
              <a:rPr lang="en-US" b="1" dirty="0"/>
              <a:t>retail and e-commerce industries</a:t>
            </a:r>
            <a:r>
              <a:rPr lang="en-IN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53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2425-5829-8949-8BFE-F98A0C6D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THANK YOU</a:t>
            </a:r>
            <a:endParaRPr lang="en-IN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374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{692D545A-CF83-451E-A34F-F761003E146B}TFe742eee6-54b3-45e8-a03d-f3d997f9b6caf6c338c2_win32-3734725ae7e2</Template>
  <TotalTime>16</TotalTime>
  <Words>265</Words>
  <Application>Microsoft Office PowerPoint</Application>
  <PresentationFormat>Widescreen</PresentationFormat>
  <Paragraphs>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Calibri</vt:lpstr>
      <vt:lpstr>Goudy Old Style</vt:lpstr>
      <vt:lpstr>Wingdings 2</vt:lpstr>
      <vt:lpstr>SlateVTI</vt:lpstr>
      <vt:lpstr>MARKET BASKET ANALYSIS</vt:lpstr>
      <vt:lpstr>INTRODUCTION</vt:lpstr>
      <vt:lpstr>USES</vt:lpstr>
      <vt:lpstr>IMPORTANCE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Avnita Patel</dc:creator>
  <cp:lastModifiedBy>Avnita Patel</cp:lastModifiedBy>
  <cp:revision>1</cp:revision>
  <dcterms:created xsi:type="dcterms:W3CDTF">2026-03-20T08:25:03Z</dcterms:created>
  <dcterms:modified xsi:type="dcterms:W3CDTF">2026-03-20T08:41:27Z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